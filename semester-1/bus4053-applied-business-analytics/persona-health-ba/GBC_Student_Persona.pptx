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81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persona: Emmanuel Scholar — post-graduate health informatics student seeking a co-op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635508" y="297180"/>
            <a:ext cx="1975104" cy="1975104"/>
          </a:xfrm>
          <a:prstGeom prst="ellipse">
            <a:avLst/>
          </a:prstGeom>
          <a:solidFill>
            <a:srgbClr val="E8A87C"/>
          </a:solidFill>
          <a:ln/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" name="Image 0" descr="portrait_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7472"/>
            <a:ext cx="1874520" cy="187452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2423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Emmanuel Scholar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807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Health Business Analyst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099816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Emmanuel is a mature postgraduate student with seven years of cross-disciplinary professional experience, transitioning into health business analysis.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65760" y="40325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400964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422910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4471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4448556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Canada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207008" y="46680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1114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385816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Introvert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623060" y="5385816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Extrovert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65760" y="5591556"/>
            <a:ext cx="2514600" cy="32004"/>
          </a:xfrm>
          <a:prstGeom prst="rect">
            <a:avLst/>
          </a:prstGeom>
          <a:solidFill>
            <a:srgbClr val="2E6B6E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5591556"/>
            <a:ext cx="1760220" cy="3200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1" name="Shape 18"/>
          <p:cNvSpPr/>
          <p:nvPr/>
        </p:nvSpPr>
        <p:spPr>
          <a:xfrm>
            <a:off x="2075688" y="5557723"/>
            <a:ext cx="100584" cy="100584"/>
          </a:xfrm>
          <a:prstGeom prst="ellipse">
            <a:avLst/>
          </a:prstGeom>
          <a:solidFill>
            <a:srgbClr val="E8A87C"/>
          </a:solidFill>
          <a:ln w="15875">
            <a:solidFill>
              <a:srgbClr val="0D4A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57881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623060" y="57881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5993892"/>
            <a:ext cx="2514600" cy="32004"/>
          </a:xfrm>
          <a:prstGeom prst="rect">
            <a:avLst/>
          </a:prstGeom>
          <a:solidFill>
            <a:srgbClr val="2E6B6E"/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" y="5993892"/>
            <a:ext cx="1207008" cy="3200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6" name="Shape 23"/>
          <p:cNvSpPr/>
          <p:nvPr/>
        </p:nvSpPr>
        <p:spPr>
          <a:xfrm>
            <a:off x="1522476" y="5960059"/>
            <a:ext cx="100584" cy="100584"/>
          </a:xfrm>
          <a:prstGeom prst="ellipse">
            <a:avLst/>
          </a:prstGeom>
          <a:solidFill>
            <a:srgbClr val="E8A87C"/>
          </a:solidFill>
          <a:ln w="15875">
            <a:solidFill>
              <a:srgbClr val="0D4A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" y="6190488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623060" y="6190488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Indifferent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5760" y="6396228"/>
            <a:ext cx="2514600" cy="32004"/>
          </a:xfrm>
          <a:prstGeom prst="rect">
            <a:avLst/>
          </a:prstGeom>
          <a:solidFill>
            <a:srgbClr val="2E6B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65760" y="6396228"/>
            <a:ext cx="301752" cy="3200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" y="6362395"/>
            <a:ext cx="100584" cy="100584"/>
          </a:xfrm>
          <a:prstGeom prst="ellipse">
            <a:avLst/>
          </a:prstGeom>
          <a:solidFill>
            <a:srgbClr val="E8A87C"/>
          </a:solidFill>
          <a:ln w="15875">
            <a:solidFill>
              <a:srgbClr val="0D4A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0" y="384048"/>
            <a:ext cx="809244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33" name="Shape 30"/>
          <p:cNvSpPr/>
          <p:nvPr/>
        </p:nvSpPr>
        <p:spPr>
          <a:xfrm>
            <a:off x="3657600" y="384048"/>
            <a:ext cx="50292" cy="731520"/>
          </a:xfrm>
          <a:prstGeom prst="rect">
            <a:avLst/>
          </a:prstGeom>
          <a:solidFill>
            <a:srgbClr val="A94A2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895344" y="384048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“</a:t>
            </a:r>
            <a:r>
              <a:rPr lang="en-US" sz="1400" i="1" dirty="0"/>
              <a:t>I would like to explore tools and resources that can help me transition from my previous industry experience into Health Business Analysis.”</a:t>
            </a:r>
            <a:endParaRPr lang="en-US" sz="1350" i="1" dirty="0"/>
          </a:p>
        </p:txBody>
      </p:sp>
      <p:sp>
        <p:nvSpPr>
          <p:cNvPr id="35" name="Text 32"/>
          <p:cNvSpPr txBox="1"/>
          <p:nvPr/>
        </p:nvSpPr>
        <p:spPr>
          <a:xfrm>
            <a:off x="3657600" y="1389888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657600" y="1636776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648187" y="1727252"/>
            <a:ext cx="2490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Post-graduate student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</a:t>
            </a:r>
            <a:endParaRPr lang="en-US" sz="1050" dirty="0"/>
          </a:p>
          <a:p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Persona's role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/>
              <a:t>“I want to find a co-op where I can apply what I’m learning and get some real Health BA experience.”</a:t>
            </a:r>
          </a:p>
          <a:p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/>
              <a:t>Excel, Power BI, reporting and spreadsheet analysis</a:t>
            </a:r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Hobbies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Gardening, hiking, cycling, friends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3611880" y="4260970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602736" y="4418838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648187" y="4541878"/>
            <a:ext cx="2490216" cy="189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/>
              <a:t>Problem-solving, root-cause investigation.</a:t>
            </a:r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ross-functional collaboration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050" dirty="0">
                <a:solidFill>
                  <a:srgbClr val="34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eliable and detail-oriented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/>
              <a:t>Business operations and technology.</a:t>
            </a:r>
          </a:p>
        </p:txBody>
      </p:sp>
      <p:sp>
        <p:nvSpPr>
          <p:cNvPr id="41" name="Text 38"/>
          <p:cNvSpPr txBox="1"/>
          <p:nvPr/>
        </p:nvSpPr>
        <p:spPr>
          <a:xfrm>
            <a:off x="6458712" y="1389888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458712" y="1636776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58712" y="1755648"/>
            <a:ext cx="2490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/>
              <a:t>Build practical skills in business analysis and health informatics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technical knowledge, tools and methodologies to real-world problems.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communication, stakeholder collaboration and problem-solving.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and prepare for co-op opportunities.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482917" y="4224080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6458712" y="4493470"/>
            <a:ext cx="2490216" cy="245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Practises skills through coursework and real-world projects.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 with teams via meetings and shared documents.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Builds technical knowledge through tutorials and hands-on practice.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industry practice in business analysis and health informatics.</a:t>
            </a: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/>
              <a:t>Documents coursework projects as portfolio case studies</a:t>
            </a:r>
          </a:p>
        </p:txBody>
      </p:sp>
      <p:sp>
        <p:nvSpPr>
          <p:cNvPr id="47" name="Text 44"/>
          <p:cNvSpPr txBox="1"/>
          <p:nvPr/>
        </p:nvSpPr>
        <p:spPr>
          <a:xfrm>
            <a:off x="9259824" y="1389888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&amp; OBSTACLES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9259824" y="1636776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9259824" y="1685454"/>
            <a:ext cx="2490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pressure: </a:t>
            </a:r>
            <a:r>
              <a:rPr lang="en-US" sz="1050" dirty="0">
                <a:solidFill>
                  <a:srgbClr val="34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coursework, family and long commutes leave little to spare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gap: </a:t>
            </a:r>
            <a:r>
              <a:rPr lang="en-US" sz="1050" dirty="0">
                <a:solidFill>
                  <a:srgbClr val="34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hands-on use of Jira, Confluence, SQL and Visio in health informatics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Conflict: </a:t>
            </a:r>
            <a:r>
              <a:rPr lang="en-US" sz="1050" dirty="0"/>
              <a:t>New teammates, miscommunication, unequal effort, and deadline pressure.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</a:t>
            </a:r>
            <a:r>
              <a:rPr lang="en-US" sz="1050" dirty="0">
                <a:solidFill>
                  <a:srgbClr val="34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confidence in professional articulation and presentations</a:t>
            </a:r>
            <a:endParaRPr lang="en-US" sz="105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readiness: </a:t>
            </a:r>
            <a:r>
              <a:rPr lang="en-US" sz="1050" dirty="0">
                <a:solidFill>
                  <a:srgbClr val="34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skills, but no BA experience and no portfolio yet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9259824" y="4211027"/>
            <a:ext cx="249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1" name="Shape 48"/>
          <p:cNvSpPr/>
          <p:nvPr/>
        </p:nvSpPr>
        <p:spPr>
          <a:xfrm>
            <a:off x="9232930" y="4401089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  <p:sp>
        <p:nvSpPr>
          <p:cNvPr id="52" name="Shape 49"/>
          <p:cNvSpPr/>
          <p:nvPr/>
        </p:nvSpPr>
        <p:spPr>
          <a:xfrm>
            <a:off x="9259824" y="4493470"/>
            <a:ext cx="2490216" cy="1719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387302" y="4587132"/>
            <a:ext cx="2235260" cy="1428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Faster access to reliable data and workflows, reducing time spent gathering information and allowing more focus on analysis and stakeholder needs.</a:t>
            </a:r>
          </a:p>
          <a:p>
            <a:pPr lvl="0"/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Greater confidence using data and technical tools to translate business needs into actionable requirements.</a:t>
            </a:r>
          </a:p>
        </p:txBody>
      </p:sp>
      <p:sp>
        <p:nvSpPr>
          <p:cNvPr id="55" name="Shape 36">
            <a:extLst>
              <a:ext uri="{FF2B5EF4-FFF2-40B4-BE49-F238E27FC236}">
                <a16:creationId xmlns:a16="http://schemas.microsoft.com/office/drawing/2014/main" id="{11C5305E-344F-9317-5C97-13DC9CB30488}"/>
              </a:ext>
            </a:extLst>
          </p:cNvPr>
          <p:cNvSpPr/>
          <p:nvPr/>
        </p:nvSpPr>
        <p:spPr>
          <a:xfrm>
            <a:off x="6361893" y="4399968"/>
            <a:ext cx="2490216" cy="13716"/>
          </a:xfrm>
          <a:prstGeom prst="rect">
            <a:avLst/>
          </a:prstGeom>
          <a:solidFill>
            <a:srgbClr val="D3E0D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362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Gazi Salahuddin</cp:lastModifiedBy>
  <cp:revision>4</cp:revision>
  <dcterms:created xsi:type="dcterms:W3CDTF">2026-09-20T19:47:00Z</dcterms:created>
  <dcterms:modified xsi:type="dcterms:W3CDTF">2026-09-25T13:58:23Z</dcterms:modified>
</cp:coreProperties>
</file>